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66" r:id="rId4"/>
    <p:sldId id="267" r:id="rId5"/>
    <p:sldId id="262" r:id="rId6"/>
    <p:sldId id="263" r:id="rId7"/>
    <p:sldId id="258" r:id="rId8"/>
    <p:sldId id="265" r:id="rId9"/>
    <p:sldId id="264" r:id="rId1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2" d="100"/>
          <a:sy n="122" d="100"/>
        </p:scale>
        <p:origin x="78" y="11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236598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05FB55-1832-015D-98C3-FC2A5E26C6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CD90377-5454-08DC-9F87-55696A2458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F1A61D1-266F-8DAA-064A-5641A08156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B75487-76FC-E28B-D073-4E38BBD624D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396296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/Users/Krishna Bhagavan/projects/datalake-face-auth/assets/images/logo-glow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63415" y="355600"/>
            <a:ext cx="1371600" cy="1371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01168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Offline Facial Recognition &amp; Liveness Detection</a:t>
            </a:r>
            <a:endParaRPr lang="en-US" sz="4000" dirty="0"/>
          </a:p>
        </p:txBody>
      </p:sp>
      <p:sp>
        <p:nvSpPr>
          <p:cNvPr id="4" name="Text 1"/>
          <p:cNvSpPr/>
          <p:nvPr/>
        </p:nvSpPr>
        <p:spPr>
          <a:xfrm>
            <a:off x="457200" y="32004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2400" b="1" dirty="0">
                <a:solidFill>
                  <a:srgbClr val="0280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NHAI Hackathon 7.0</a:t>
            </a:r>
            <a:endParaRPr lang="en-US" sz="2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199" y="457200"/>
            <a:ext cx="8296673" cy="6135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Architecture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1289539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20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93A171D-3A7A-E0CF-3B11-1AFD0EBFCB6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0169" b="7058"/>
          <a:stretch>
            <a:fillRect/>
          </a:stretch>
        </p:blipFill>
        <p:spPr>
          <a:xfrm>
            <a:off x="390127" y="1129323"/>
            <a:ext cx="8363746" cy="384907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12F8190-265C-127C-D0F1-BF1174D793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6533AB2-8F90-3A61-0F07-41A4388449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7477" y="2571750"/>
            <a:ext cx="1800052" cy="7722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75700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9F4695E-A2B4-5954-6FFE-C91A3794CB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235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854290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212121"/>
                </a:solidFill>
                <a:latin typeface="Cambria"/>
              </a:defRPr>
            </a:pPr>
            <a:r>
              <a:t>Dynamic Anti-Spoofing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1828800" cy="45720"/>
          </a:xfrm>
          <a:prstGeom prst="rect">
            <a:avLst/>
          </a:prstGeom>
          <a:solidFill>
            <a:srgbClr val="008B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463040"/>
            <a:ext cx="3931920" cy="3108960"/>
          </a:xfrm>
          <a:prstGeom prst="roundRect">
            <a:avLst/>
          </a:prstGeom>
          <a:solidFill>
            <a:srgbClr val="D4E9F9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182880"/>
          <a:lstStyle/>
          <a:p>
            <a:pPr algn="ctr">
              <a:spcAft>
                <a:spcPts val="1400"/>
              </a:spcAft>
              <a:defRPr sz="2200" b="1">
                <a:solidFill>
                  <a:srgbClr val="008B9F"/>
                </a:solidFill>
                <a:latin typeface="Calibri"/>
              </a:defRPr>
            </a:pPr>
            <a:r>
              <a:t>MiniFASNet V2 Neural Model</a:t>
            </a:r>
          </a:p>
          <a:p>
            <a:pPr>
              <a:spcAft>
                <a:spcPts val="1000"/>
              </a:spcAft>
              <a:defRPr sz="1600">
                <a:solidFill>
                  <a:srgbClr val="212121"/>
                </a:solidFill>
              </a:defRPr>
            </a:pPr>
            <a:r>
              <a:t>• Uses TFLite with Core ML (iOS) and NNAPI (Android) hardware delegates for sub-second inference.</a:t>
            </a:r>
          </a:p>
          <a:p>
            <a:pPr>
              <a:defRPr sz="1600">
                <a:solidFill>
                  <a:srgbClr val="212121"/>
                </a:solidFill>
              </a:defRPr>
            </a:pPr>
            <a:r>
              <a:t>• Computes Softmax probabilities across three classes.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54880" y="1463040"/>
            <a:ext cx="3931920" cy="3108960"/>
          </a:xfrm>
          <a:prstGeom prst="roundRect">
            <a:avLst/>
          </a:prstGeom>
          <a:solidFill>
            <a:srgbClr val="D4E9F9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182880"/>
          <a:lstStyle/>
          <a:p>
            <a:pPr algn="ctr">
              <a:spcAft>
                <a:spcPts val="1400"/>
              </a:spcAft>
              <a:defRPr sz="2200" b="1">
                <a:solidFill>
                  <a:srgbClr val="008B9F"/>
                </a:solidFill>
                <a:latin typeface="Calibri"/>
              </a:defRPr>
            </a:pPr>
            <a:r>
              <a:t>Intelligent Frame Thresholding</a:t>
            </a:r>
          </a:p>
          <a:p>
            <a:pPr>
              <a:spcAft>
                <a:spcPts val="1000"/>
              </a:spcAft>
              <a:defRPr sz="1600">
                <a:solidFill>
                  <a:srgbClr val="212121"/>
                </a:solidFill>
              </a:defRPr>
            </a:pPr>
            <a:r>
              <a:t>• Rapidly filters out blurry/noisy frames without model evaluation.</a:t>
            </a:r>
          </a:p>
          <a:p>
            <a:pPr>
              <a:spcAft>
                <a:spcPts val="1000"/>
              </a:spcAft>
              <a:defRPr sz="1600">
                <a:solidFill>
                  <a:srgbClr val="212121"/>
                </a:solidFill>
              </a:defRPr>
            </a:pPr>
            <a:r>
              <a:t>• Classification acts on argmax &gt; 0.35 confidence to short-circuit success flow early.</a:t>
            </a:r>
          </a:p>
          <a:p>
            <a:pPr>
              <a:defRPr sz="1600">
                <a:solidFill>
                  <a:srgbClr val="212121"/>
                </a:solidFill>
              </a:defRPr>
            </a:pPr>
            <a:r>
              <a:t>• Evaluates continuous stream from camera while retaining low memory footprint.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212121"/>
                </a:solidFill>
                <a:latin typeface="Cambria"/>
              </a:defRPr>
            </a:pPr>
            <a:r>
              <a:t>Drop-In SDK for React Native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1828800" cy="45720"/>
          </a:xfrm>
          <a:prstGeom prst="rect">
            <a:avLst/>
          </a:prstGeom>
          <a:solidFill>
            <a:srgbClr val="008B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463040"/>
            <a:ext cx="4114800" cy="201168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182880"/>
          <a:lstStyle/>
          <a:p>
            <a:pPr algn="ctr">
              <a:defRPr sz="1400">
                <a:solidFill>
                  <a:srgbClr val="008B9F"/>
                </a:solidFill>
                <a:latin typeface="Courier New"/>
              </a:defRPr>
            </a:pPr>
            <a:r>
              <a:t>const { startAuth } = useFaceAuthVision({</a:t>
            </a:r>
            <a:br/>
            <a:r>
              <a:t>    maxChecks: 5,</a:t>
            </a:r>
            <a:br/>
            <a:r>
              <a:t>});</a:t>
            </a:r>
            <a:br/>
            <a:br/>
            <a:r>
              <a:t>return (</a:t>
            </a:r>
            <a:br/>
            <a:r>
              <a:t>    &lt;CameraFlow </a:t>
            </a:r>
            <a:br/>
            <a:r>
              <a:t>        onFaceDetected={startAuth}</a:t>
            </a:r>
            <a:br/>
            <a:r>
              <a:t>    /&gt;</a:t>
            </a:r>
            <a:br/>
            <a:r>
              <a:t>);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937760" y="1463040"/>
            <a:ext cx="3749039" cy="3108960"/>
          </a:xfrm>
          <a:prstGeom prst="roundRect">
            <a:avLst/>
          </a:prstGeom>
          <a:solidFill>
            <a:srgbClr val="D4E9F9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182880"/>
          <a:lstStyle/>
          <a:p>
            <a:pPr algn="ctr">
              <a:spcAft>
                <a:spcPts val="1400"/>
              </a:spcAft>
              <a:defRPr sz="2200" b="1">
                <a:solidFill>
                  <a:srgbClr val="008B9F"/>
                </a:solidFill>
                <a:latin typeface="Calibri"/>
              </a:defRPr>
            </a:pPr>
            <a:r>
              <a:t>Component-Driven Architecture</a:t>
            </a:r>
          </a:p>
          <a:p>
            <a:pPr>
              <a:spcAft>
                <a:spcPts val="1000"/>
              </a:spcAft>
              <a:defRPr sz="1600">
                <a:solidFill>
                  <a:srgbClr val="212121"/>
                </a:solidFill>
              </a:defRPr>
            </a:pPr>
            <a:r>
              <a:t>• Animated Biometric Scanner: Vertical laser beam and pulsing ambient ring.</a:t>
            </a:r>
          </a:p>
          <a:p>
            <a:pPr>
              <a:spcAft>
                <a:spcPts val="1000"/>
              </a:spcAft>
              <a:defRPr sz="1600">
                <a:solidFill>
                  <a:srgbClr val="212121"/>
                </a:solidFill>
              </a:defRPr>
            </a:pPr>
            <a:r>
              <a:t>• Haptic Feedback &amp; Transitions: Screen-shake on danger, halo flash on success.</a:t>
            </a:r>
          </a:p>
          <a:p>
            <a:pPr>
              <a:defRPr sz="1600">
                <a:solidFill>
                  <a:srgbClr val="212121"/>
                </a:solidFill>
              </a:defRPr>
            </a:pPr>
            <a:r>
              <a:t>• Simple Hooks Interface: useFaceAuthVision manages state &amp; camera stream effortlessly.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81353" y="580866"/>
            <a:ext cx="8288216" cy="6564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2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Performance &amp; Score Distribution</a:t>
            </a:r>
            <a:r>
              <a:rPr lang="en-US" sz="2000" dirty="0"/>
              <a:t> </a:t>
            </a:r>
          </a:p>
          <a:p>
            <a:pPr algn="ctr"/>
            <a:r>
              <a:rPr lang="en-US" sz="2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(Indian Faces Dataset)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801077" y="1565953"/>
            <a:ext cx="2848710" cy="28916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 Precision &amp; Robustness</a:t>
            </a:r>
            <a:endParaRPr lang="en-US" sz="1200" dirty="0"/>
          </a:p>
        </p:txBody>
      </p:sp>
      <p:pic>
        <p:nvPicPr>
          <p:cNvPr id="4" name="Image 0" descr="C:/Users/Krishna Bhagavan/projects/datalake-face-auth/proposal/benchmark_plots/Indian_ROC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88463" y="1843650"/>
            <a:ext cx="3058254" cy="2779152"/>
          </a:xfrm>
          <a:prstGeom prst="rect">
            <a:avLst/>
          </a:prstGeom>
        </p:spPr>
      </p:pic>
      <p:pic>
        <p:nvPicPr>
          <p:cNvPr id="8" name="Image 0" descr="C:/Users/Krishna Bhagavan/projects/datalake-face-auth/proposal/benchmark_plots/Indian_ScoreDistribution.png">
            <a:extLst>
              <a:ext uri="{FF2B5EF4-FFF2-40B4-BE49-F238E27FC236}">
                <a16:creationId xmlns:a16="http://schemas.microsoft.com/office/drawing/2014/main" id="{FC3C0E8D-AFD6-F3E3-7C33-41E0DEA02B7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325814" y="1843650"/>
            <a:ext cx="4329723" cy="2779152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1DA91E42-393E-CE86-FE25-848E30B60CEA}"/>
              </a:ext>
            </a:extLst>
          </p:cNvPr>
          <p:cNvSpPr txBox="1"/>
          <p:nvPr/>
        </p:nvSpPr>
        <p:spPr>
          <a:xfrm>
            <a:off x="4997884" y="1565953"/>
            <a:ext cx="348175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separation between match and non-match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03F8CE-3A9E-7C32-FFD2-84D83E0A81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91527079-DA0A-46E3-A460-51A67DD6C21F}"/>
              </a:ext>
            </a:extLst>
          </p:cNvPr>
          <p:cNvSpPr/>
          <p:nvPr/>
        </p:nvSpPr>
        <p:spPr>
          <a:xfrm>
            <a:off x="427892" y="582945"/>
            <a:ext cx="8288216" cy="6564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2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Performance &amp; Score Distribution </a:t>
            </a:r>
          </a:p>
          <a:p>
            <a:pPr algn="ctr"/>
            <a:r>
              <a:rPr lang="en-US" sz="2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(LFW Dataset)</a:t>
            </a:r>
            <a:endParaRPr lang="en-US" sz="20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587ACC92-852C-9160-A1D3-65FB22C1502D}"/>
              </a:ext>
            </a:extLst>
          </p:cNvPr>
          <p:cNvSpPr/>
          <p:nvPr/>
        </p:nvSpPr>
        <p:spPr>
          <a:xfrm>
            <a:off x="801077" y="1565953"/>
            <a:ext cx="2848710" cy="28916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 Precision &amp; Robustness</a:t>
            </a:r>
            <a:endParaRPr lang="en-US" sz="12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7A6394B-F1EF-9E4B-0714-31D9B8275979}"/>
              </a:ext>
            </a:extLst>
          </p:cNvPr>
          <p:cNvSpPr txBox="1"/>
          <p:nvPr/>
        </p:nvSpPr>
        <p:spPr>
          <a:xfrm>
            <a:off x="4997884" y="1565953"/>
            <a:ext cx="348175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separation between match and non-match</a:t>
            </a:r>
            <a:endParaRPr lang="en-US" sz="1200" dirty="0"/>
          </a:p>
        </p:txBody>
      </p:sp>
      <p:pic>
        <p:nvPicPr>
          <p:cNvPr id="6" name="Image 0" descr="C:/Users/Krishna Bhagavan/projects/datalake-face-auth/proposal/benchmark_plots/LFW_ROC.png">
            <a:extLst>
              <a:ext uri="{FF2B5EF4-FFF2-40B4-BE49-F238E27FC236}">
                <a16:creationId xmlns:a16="http://schemas.microsoft.com/office/drawing/2014/main" id="{2B54A5BD-570F-A8F6-D5E1-FD7A7FEB2E1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01077" y="1925710"/>
            <a:ext cx="2848710" cy="2678729"/>
          </a:xfrm>
          <a:prstGeom prst="rect">
            <a:avLst/>
          </a:prstGeom>
        </p:spPr>
      </p:pic>
      <p:pic>
        <p:nvPicPr>
          <p:cNvPr id="9" name="Image 0" descr="C:/Users/Krishna Bhagavan/projects/datalake-face-auth/proposal/benchmark_plots/LFW_ScoreDistribution.png">
            <a:extLst>
              <a:ext uri="{FF2B5EF4-FFF2-40B4-BE49-F238E27FC236}">
                <a16:creationId xmlns:a16="http://schemas.microsoft.com/office/drawing/2014/main" id="{544E43C7-8BA2-EC8B-8B8E-89574E7254B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601308" y="1855122"/>
            <a:ext cx="3923214" cy="27493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87680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Demonstration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457200" y="2743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280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Cross-platform prototype (Android + iOS)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80</TotalTime>
  <Words>124</Words>
  <Application>Microsoft Office PowerPoint</Application>
  <PresentationFormat>On-screen Show (16:9)</PresentationFormat>
  <Paragraphs>29</Paragraphs>
  <Slides>9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Krishna Bhagavan</cp:lastModifiedBy>
  <cp:revision>3</cp:revision>
  <dcterms:created xsi:type="dcterms:W3CDTF">2026-07-26T13:59:30Z</dcterms:created>
  <dcterms:modified xsi:type="dcterms:W3CDTF">2026-07-26T15:24:05Z</dcterms:modified>
</cp:coreProperties>
</file>