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71" r:id="rId5"/>
    <p:sldId id="272" r:id="rId6"/>
    <p:sldId id="275" r:id="rId7"/>
    <p:sldId id="274" r:id="rId8"/>
    <p:sldId id="277" r:id="rId9"/>
    <p:sldId id="278" r:id="rId10"/>
    <p:sldId id="266" r:id="rId11"/>
    <p:sldId id="267" r:id="rId12"/>
    <p:sldId id="258" r:id="rId13"/>
    <p:sldId id="265" r:id="rId14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65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8C25E-DBF3-BDF0-2884-8387DEFE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6D444-750A-582B-11FF-9BD91B488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A9CED-B7A9-EC98-6EFB-74F71F2B0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B5884-4CA4-6D67-F97F-B5ACA46CF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65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EA7F-E959-C98C-1C87-7D1A3364C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34890-4D07-4E00-9126-4E62CEACF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E146A-4C6B-A2D6-332E-50B459284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AC87E-49EF-1A64-3CC1-A44D10B6A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06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5FB55-1832-015D-98C3-FC2A5E26C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90377-5454-08DC-9F87-55696A245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A61D1-266F-8DAA-064A-5641A0815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75487-76FC-E28B-D073-4E38BBD624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962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Krishna Bhagavan/projects/datalake-face-auth/assets/images/logo-g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3415" y="355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Facial Recognition &amp; Liveness Detection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NHAI Hackathon 7.0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457200"/>
            <a:ext cx="8296673" cy="613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System</a:t>
            </a: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953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A171D-3A7A-E0CF-3B11-1AFD0EBFCB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69" b="7058"/>
          <a:stretch>
            <a:fillRect/>
          </a:stretch>
        </p:blipFill>
        <p:spPr>
          <a:xfrm>
            <a:off x="390127" y="1129323"/>
            <a:ext cx="8363746" cy="38490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B99EC-9179-9C93-B4BF-9BCBA1E69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3DE73B-01AB-F2A8-E374-9941EF173AB1}"/>
              </a:ext>
            </a:extLst>
          </p:cNvPr>
          <p:cNvSpPr/>
          <p:nvPr/>
        </p:nvSpPr>
        <p:spPr>
          <a:xfrm>
            <a:off x="457199" y="457200"/>
            <a:ext cx="8296673" cy="613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Face Enrollment Flow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10A21F-4D0F-B22F-DA80-5EEAB412D2A6}"/>
              </a:ext>
            </a:extLst>
          </p:cNvPr>
          <p:cNvSpPr/>
          <p:nvPr/>
        </p:nvSpPr>
        <p:spPr>
          <a:xfrm>
            <a:off x="457200" y="128953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DE8400-00F6-8F40-0379-5A28B5CA2E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91"/>
          <a:stretch>
            <a:fillRect/>
          </a:stretch>
        </p:blipFill>
        <p:spPr>
          <a:xfrm>
            <a:off x="1168401" y="1150815"/>
            <a:ext cx="6865814" cy="385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62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4511F-D14C-D44F-69BE-7BEF15FB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30F2A1-6B61-C2D1-BD83-F38682C3CC46}"/>
              </a:ext>
            </a:extLst>
          </p:cNvPr>
          <p:cNvSpPr/>
          <p:nvPr/>
        </p:nvSpPr>
        <p:spPr>
          <a:xfrm>
            <a:off x="457199" y="457200"/>
            <a:ext cx="8296673" cy="613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Face Enrollment Flow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E9861C-B622-AD08-8F20-3B8ADAF33B4A}"/>
              </a:ext>
            </a:extLst>
          </p:cNvPr>
          <p:cNvSpPr/>
          <p:nvPr/>
        </p:nvSpPr>
        <p:spPr>
          <a:xfrm>
            <a:off x="457200" y="128953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CB061D-FBB3-2D6C-BA31-3381E0D37E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" t="1948" r="802" b="1762"/>
          <a:stretch>
            <a:fillRect/>
          </a:stretch>
        </p:blipFill>
        <p:spPr>
          <a:xfrm>
            <a:off x="538621" y="1230924"/>
            <a:ext cx="7763124" cy="377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99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76448C-CA9D-0E0A-7DB8-41F8347FE4AD}"/>
              </a:ext>
            </a:extLst>
          </p:cNvPr>
          <p:cNvSpPr txBox="1"/>
          <p:nvPr/>
        </p:nvSpPr>
        <p:spPr>
          <a:xfrm>
            <a:off x="1047262" y="893837"/>
            <a:ext cx="3938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Quality Gate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12541-2DBA-483C-3A4B-10485A4F9C07}"/>
              </a:ext>
            </a:extLst>
          </p:cNvPr>
          <p:cNvSpPr txBox="1"/>
          <p:nvPr/>
        </p:nvSpPr>
        <p:spPr>
          <a:xfrm>
            <a:off x="516395" y="1504003"/>
            <a:ext cx="530997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>
                <a:solidFill>
                  <a:srgbClr val="1E293B"/>
                </a:solidFill>
                <a:latin typeface="Arial"/>
              </a:rPr>
              <a:t>Geometry Check: </a:t>
            </a:r>
            <a:r>
              <a:rPr lang="en-IN" sz="1200" dirty="0">
                <a:solidFill>
                  <a:srgbClr val="475569"/>
                </a:solidFill>
                <a:latin typeface="Arial"/>
              </a:rPr>
              <a:t>Filters extreme head pose </a:t>
            </a:r>
            <a:r>
              <a:rPr lang="en-IN" sz="1200" b="1" i="1" dirty="0">
                <a:solidFill>
                  <a:srgbClr val="475569"/>
                </a:solidFill>
                <a:latin typeface="Arial"/>
              </a:rPr>
              <a:t>(yaw / pitch &gt; 35 </a:t>
            </a:r>
            <a:r>
              <a:rPr lang="en-IN" sz="1200" b="1" i="1" dirty="0" err="1">
                <a:solidFill>
                  <a:srgbClr val="475569"/>
                </a:solidFill>
                <a:latin typeface="Arial"/>
              </a:rPr>
              <a:t>deg</a:t>
            </a:r>
            <a:r>
              <a:rPr lang="en-IN" sz="1200" b="1" i="1" dirty="0">
                <a:solidFill>
                  <a:srgbClr val="475569"/>
                </a:solidFill>
                <a:latin typeface="Arial"/>
              </a:rPr>
              <a:t>) </a:t>
            </a:r>
            <a:r>
              <a:rPr lang="en-IN" sz="1200" dirty="0">
                <a:solidFill>
                  <a:srgbClr val="475569"/>
                </a:solidFill>
                <a:latin typeface="Arial"/>
              </a:rPr>
              <a:t>&amp; small face bounding box ratio.</a:t>
            </a:r>
          </a:p>
          <a:p>
            <a:pPr algn="just">
              <a:spcAft>
                <a:spcPts val="600"/>
              </a:spcAft>
            </a:pPr>
            <a:endParaRPr lang="en-IN" sz="1200" dirty="0">
              <a:solidFill>
                <a:srgbClr val="475569"/>
              </a:solidFill>
              <a:latin typeface="Arial"/>
            </a:endParaRP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>
                <a:solidFill>
                  <a:srgbClr val="1E293B"/>
                </a:solidFill>
                <a:latin typeface="Arial"/>
              </a:rPr>
              <a:t>Pixel Diagnostics: </a:t>
            </a:r>
            <a:r>
              <a:rPr lang="en-IN" sz="1200" dirty="0">
                <a:solidFill>
                  <a:srgbClr val="475569"/>
                </a:solidFill>
                <a:latin typeface="Arial"/>
              </a:rPr>
              <a:t>Calculates Laplacian variance for sharpness </a:t>
            </a:r>
            <a:r>
              <a:rPr lang="en-IN" sz="1200" b="1" i="1" dirty="0">
                <a:solidFill>
                  <a:srgbClr val="475569"/>
                </a:solidFill>
                <a:latin typeface="Arial"/>
              </a:rPr>
              <a:t>(&gt;= 8.0) </a:t>
            </a:r>
            <a:r>
              <a:rPr lang="en-IN" sz="1200" dirty="0">
                <a:solidFill>
                  <a:srgbClr val="475569"/>
                </a:solidFill>
                <a:latin typeface="Arial"/>
              </a:rPr>
              <a:t>to filter motion blur.</a:t>
            </a:r>
          </a:p>
          <a:p>
            <a:pPr algn="just">
              <a:spcAft>
                <a:spcPts val="600"/>
              </a:spcAft>
            </a:pPr>
            <a:endParaRPr lang="en-IN" sz="1200" dirty="0">
              <a:solidFill>
                <a:srgbClr val="475569"/>
              </a:solidFill>
              <a:latin typeface="Arial"/>
            </a:endParaRP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>
                <a:solidFill>
                  <a:srgbClr val="1E293B"/>
                </a:solidFill>
                <a:latin typeface="Arial"/>
              </a:rPr>
              <a:t>Light Bounds: </a:t>
            </a:r>
            <a:r>
              <a:rPr lang="en-IN" sz="1200" dirty="0">
                <a:solidFill>
                  <a:srgbClr val="475569"/>
                </a:solidFill>
                <a:latin typeface="Arial"/>
              </a:rPr>
              <a:t>Rejects under-exposed darkness and harsh directional glare/shadows.</a:t>
            </a: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200" dirty="0">
              <a:solidFill>
                <a:srgbClr val="475569"/>
              </a:solidFill>
              <a:latin typeface="Arial"/>
            </a:endParaRP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>
                <a:solidFill>
                  <a:srgbClr val="1E293B"/>
                </a:solidFill>
                <a:latin typeface="Arial"/>
              </a:rPr>
              <a:t>Auto-Retry Loop: </a:t>
            </a:r>
            <a:r>
              <a:rPr lang="en-IN" sz="1200" dirty="0">
                <a:solidFill>
                  <a:srgbClr val="475569"/>
                </a:solidFill>
                <a:latin typeface="Arial"/>
              </a:rPr>
              <a:t>Triggers fresh frame capture on failure without corrupting template pipeline.</a:t>
            </a: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200" dirty="0">
              <a:solidFill>
                <a:srgbClr val="475569"/>
              </a:solidFill>
              <a:latin typeface="Arial"/>
            </a:endParaRP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 b="1" dirty="0">
                <a:latin typeface="Arial"/>
              </a:rPr>
              <a:t>Timeout Protection: </a:t>
            </a:r>
            <a:r>
              <a:rPr lang="en-US" sz="1200" dirty="0">
                <a:solidFill>
                  <a:srgbClr val="475569"/>
                </a:solidFill>
                <a:latin typeface="Arial"/>
              </a:rPr>
              <a:t>Each challenge stage enforces strict timeouts to fail-close safely if gestures are incomplete.</a:t>
            </a:r>
            <a:endParaRPr lang="en-IN" sz="1200" dirty="0">
              <a:solidFill>
                <a:srgbClr val="475569"/>
              </a:solidFill>
              <a:latin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F8D785-E798-9778-843F-72129431E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342" y="1054815"/>
            <a:ext cx="2814119" cy="3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95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4C3E-2192-8037-D9A3-895A20056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77FEE6-4FA7-66F8-4C72-2CEAC0FA3772}"/>
              </a:ext>
            </a:extLst>
          </p:cNvPr>
          <p:cNvSpPr txBox="1"/>
          <p:nvPr/>
        </p:nvSpPr>
        <p:spPr>
          <a:xfrm>
            <a:off x="1047262" y="893837"/>
            <a:ext cx="3938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Liveness Detection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2112C-C6B9-F77C-0283-DC9DF1CF9F10}"/>
              </a:ext>
            </a:extLst>
          </p:cNvPr>
          <p:cNvSpPr txBox="1"/>
          <p:nvPr/>
        </p:nvSpPr>
        <p:spPr>
          <a:xfrm>
            <a:off x="516394" y="1328156"/>
            <a:ext cx="5200560" cy="3412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>
                <a:solidFill>
                  <a:srgbClr val="1E293B"/>
                </a:solidFill>
                <a:latin typeface="Arial"/>
              </a:rPr>
              <a:t>Native Frame Stream: </a:t>
            </a:r>
            <a:r>
              <a:rPr lang="en-IN" sz="1200" dirty="0">
                <a:solidFill>
                  <a:srgbClr val="1E293B"/>
                </a:solidFill>
                <a:latin typeface="Arial"/>
              </a:rPr>
              <a:t>Evaluated via ML Kit fast mode </a:t>
            </a:r>
            <a:r>
              <a:rPr lang="en-IN" sz="1200" i="1" dirty="0">
                <a:solidFill>
                  <a:srgbClr val="1E293B"/>
                </a:solidFill>
                <a:latin typeface="Arial"/>
              </a:rPr>
              <a:t>(&lt;15ms / frame at 30 FPS)</a:t>
            </a:r>
            <a:r>
              <a:rPr lang="en-IN" sz="1200" dirty="0">
                <a:solidFill>
                  <a:srgbClr val="1E293B"/>
                </a:solidFill>
                <a:latin typeface="Arial"/>
              </a:rPr>
              <a:t> directly on camera stream with zero image-decoding overhead.</a:t>
            </a:r>
          </a:p>
          <a:p>
            <a:pPr marL="171450" indent="-1714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>
                <a:solidFill>
                  <a:srgbClr val="1E293B"/>
                </a:solidFill>
                <a:latin typeface="Arial"/>
              </a:rPr>
              <a:t>MiniFASNet-V2-CNN: </a:t>
            </a:r>
            <a:r>
              <a:rPr lang="en-US" sz="1200" dirty="0">
                <a:solidFill>
                  <a:srgbClr val="1E293B"/>
                </a:solidFill>
                <a:latin typeface="Arial"/>
              </a:rPr>
              <a:t>Enrollment requires gesture sequence       </a:t>
            </a:r>
            <a:r>
              <a:rPr lang="en-US" sz="1200" i="1" dirty="0">
                <a:solidFill>
                  <a:srgbClr val="1E293B"/>
                </a:solidFill>
                <a:latin typeface="Arial"/>
              </a:rPr>
              <a:t>(Smile -&gt; Turn Left -&gt; Turn Right) </a:t>
            </a:r>
            <a:r>
              <a:rPr lang="en-US" sz="1200" dirty="0">
                <a:solidFill>
                  <a:srgbClr val="1E293B"/>
                </a:solidFill>
                <a:latin typeface="Arial"/>
              </a:rPr>
              <a:t>and</a:t>
            </a:r>
            <a:r>
              <a:rPr lang="en-US" sz="1200" i="1" dirty="0">
                <a:solidFill>
                  <a:srgbClr val="1E293B"/>
                </a:solidFill>
                <a:latin typeface="Arial"/>
              </a:rPr>
              <a:t> </a:t>
            </a:r>
            <a:r>
              <a:rPr lang="en-US" sz="1200" dirty="0">
                <a:solidFill>
                  <a:srgbClr val="1E293B"/>
                </a:solidFill>
                <a:latin typeface="Arial"/>
              </a:rPr>
              <a:t>Verification requires Blink.</a:t>
            </a:r>
            <a:endParaRPr lang="en-IN" sz="1200" dirty="0">
              <a:solidFill>
                <a:srgbClr val="1E293B"/>
              </a:solidFill>
              <a:latin typeface="Arial"/>
            </a:endParaRPr>
          </a:p>
          <a:p>
            <a:pPr marL="171450" indent="-1714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>
                <a:solidFill>
                  <a:srgbClr val="1E293B"/>
                </a:solidFill>
                <a:latin typeface="Arial"/>
              </a:rPr>
              <a:t>Liveness Backstop: </a:t>
            </a:r>
            <a:r>
              <a:rPr lang="en-US" sz="1200" dirty="0">
                <a:solidFill>
                  <a:srgbClr val="1E293B"/>
                </a:solidFill>
                <a:latin typeface="Arial"/>
              </a:rPr>
              <a:t>Measures eye-open probability transitions     (open -&gt; closed -&gt; open) rather than single closed-eye frames for high reliability.</a:t>
            </a:r>
            <a:endParaRPr lang="en-IN" sz="1200" dirty="0">
              <a:solidFill>
                <a:srgbClr val="1E293B"/>
              </a:solidFill>
              <a:latin typeface="Arial"/>
            </a:endParaRPr>
          </a:p>
          <a:p>
            <a:pPr marL="171450" indent="-17145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 b="1" dirty="0">
                <a:solidFill>
                  <a:srgbClr val="1E293B"/>
                </a:solidFill>
                <a:latin typeface="Arial"/>
              </a:rPr>
              <a:t>Face Validity Gate: </a:t>
            </a:r>
            <a:r>
              <a:rPr lang="en-US" sz="1200" dirty="0">
                <a:solidFill>
                  <a:srgbClr val="1E293B"/>
                </a:solidFill>
                <a:latin typeface="Arial"/>
              </a:rPr>
              <a:t>Enforces located eye/mouth landmark requirements per frame so non-face objects cannot advance the state machine.</a:t>
            </a:r>
            <a:endParaRPr lang="en-IN" sz="1200" dirty="0">
              <a:solidFill>
                <a:srgbClr val="1E293B"/>
              </a:solidFill>
              <a:latin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4157CF-47F4-13BF-E771-F16B5CA92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342" y="1054815"/>
            <a:ext cx="2814119" cy="3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1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1F2EC-788F-55B0-C505-E9B5DE651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3BBA0-C656-77E3-CA2D-7685DC4170F4}"/>
              </a:ext>
            </a:extLst>
          </p:cNvPr>
          <p:cNvSpPr txBox="1"/>
          <p:nvPr/>
        </p:nvSpPr>
        <p:spPr>
          <a:xfrm>
            <a:off x="1019907" y="854760"/>
            <a:ext cx="4349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ArcFace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alignment</a:t>
            </a:r>
            <a:r>
              <a:rPr lang="en-IN" sz="2000" b="1" dirty="0"/>
              <a:t>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Anti-spoof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CBE88D-7D81-9FA6-4A5C-18ABD3111F95}"/>
              </a:ext>
            </a:extLst>
          </p:cNvPr>
          <p:cNvSpPr txBox="1"/>
          <p:nvPr/>
        </p:nvSpPr>
        <p:spPr>
          <a:xfrm>
            <a:off x="449964" y="1429298"/>
            <a:ext cx="548191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 err="1">
                <a:solidFill>
                  <a:srgbClr val="1E293B"/>
                </a:solidFill>
                <a:latin typeface="Arial"/>
              </a:rPr>
              <a:t>ArcFace</a:t>
            </a:r>
            <a:r>
              <a:rPr lang="en-IN" sz="1200" b="1" dirty="0">
                <a:solidFill>
                  <a:srgbClr val="1E293B"/>
                </a:solidFill>
                <a:latin typeface="Arial"/>
              </a:rPr>
              <a:t> Alignment: </a:t>
            </a:r>
            <a:r>
              <a:rPr lang="en-IN" sz="1200" dirty="0">
                <a:solidFill>
                  <a:srgbClr val="1E293B"/>
                </a:solidFill>
                <a:latin typeface="Arial"/>
              </a:rPr>
              <a:t>Warps face via ML Kit eye landmarks to canonical 112x112 geometry.</a:t>
            </a: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200" dirty="0">
              <a:solidFill>
                <a:srgbClr val="1E293B"/>
              </a:solidFill>
              <a:latin typeface="Arial"/>
            </a:endParaRP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 err="1">
                <a:solidFill>
                  <a:srgbClr val="1E293B"/>
                </a:solidFill>
                <a:latin typeface="Arial"/>
              </a:rPr>
              <a:t>MiniFASNet</a:t>
            </a:r>
            <a:r>
              <a:rPr lang="en-IN" sz="1200" b="1" dirty="0">
                <a:solidFill>
                  <a:srgbClr val="1E293B"/>
                </a:solidFill>
                <a:latin typeface="Arial"/>
              </a:rPr>
              <a:t> V2 CNN: </a:t>
            </a:r>
            <a:r>
              <a:rPr lang="en-IN" sz="1200" dirty="0">
                <a:solidFill>
                  <a:srgbClr val="1E293B"/>
                </a:solidFill>
                <a:latin typeface="Arial"/>
              </a:rPr>
              <a:t>Lightweight ~1.75 MB passive anti-spoof neural model (</a:t>
            </a:r>
            <a:r>
              <a:rPr lang="en-IN" sz="1200" dirty="0" err="1">
                <a:solidFill>
                  <a:srgbClr val="1E293B"/>
                </a:solidFill>
                <a:latin typeface="Arial"/>
              </a:rPr>
              <a:t>TFLite</a:t>
            </a:r>
            <a:r>
              <a:rPr lang="en-IN" sz="1200" dirty="0">
                <a:solidFill>
                  <a:srgbClr val="1E293B"/>
                </a:solidFill>
                <a:latin typeface="Arial"/>
              </a:rPr>
              <a:t>).</a:t>
            </a: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200" dirty="0">
              <a:solidFill>
                <a:srgbClr val="1E293B"/>
              </a:solidFill>
              <a:latin typeface="Arial"/>
            </a:endParaRP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>
                <a:solidFill>
                  <a:srgbClr val="1E293B"/>
                </a:solidFill>
                <a:latin typeface="Arial"/>
              </a:rPr>
              <a:t>Liveness Backstop: </a:t>
            </a:r>
            <a:r>
              <a:rPr lang="en-IN" sz="1200" dirty="0">
                <a:solidFill>
                  <a:srgbClr val="1E293B"/>
                </a:solidFill>
                <a:latin typeface="Arial"/>
              </a:rPr>
              <a:t>Classifies 112x112 crops to detect 2D photo prints, screen replays &amp; masks.</a:t>
            </a: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200" dirty="0">
              <a:solidFill>
                <a:srgbClr val="1E293B"/>
              </a:solidFill>
              <a:latin typeface="Arial"/>
            </a:endParaRP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>
                <a:solidFill>
                  <a:srgbClr val="1E293B"/>
                </a:solidFill>
                <a:latin typeface="Arial"/>
              </a:rPr>
              <a:t>Single-Pass Execution: </a:t>
            </a:r>
            <a:r>
              <a:rPr lang="en-IN" sz="1200" dirty="0">
                <a:solidFill>
                  <a:srgbClr val="1E293B"/>
                </a:solidFill>
                <a:latin typeface="Arial"/>
              </a:rPr>
              <a:t>Runs once on first valid frame to maintain sub-second latency.</a:t>
            </a: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200" dirty="0">
              <a:solidFill>
                <a:srgbClr val="1E293B"/>
              </a:solidFill>
              <a:latin typeface="Arial"/>
            </a:endParaRP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>
                <a:solidFill>
                  <a:srgbClr val="1E293B"/>
                </a:solidFill>
                <a:latin typeface="Arial"/>
              </a:rPr>
              <a:t>Multi-frame retry logic: </a:t>
            </a:r>
            <a:r>
              <a:rPr lang="en-US" sz="1200" dirty="0">
                <a:solidFill>
                  <a:srgbClr val="1E293B"/>
                </a:solidFill>
                <a:latin typeface="Arial"/>
              </a:rPr>
              <a:t>If score is lower/noisy, it checks up to 3 subsequent frames (</a:t>
            </a:r>
            <a:r>
              <a:rPr lang="en-US" sz="1200" dirty="0" err="1">
                <a:solidFill>
                  <a:srgbClr val="1E293B"/>
                </a:solidFill>
                <a:latin typeface="Arial"/>
              </a:rPr>
              <a:t>maxChecks</a:t>
            </a:r>
            <a:r>
              <a:rPr lang="en-US" sz="1200" dirty="0">
                <a:solidFill>
                  <a:srgbClr val="1E293B"/>
                </a:solidFill>
                <a:latin typeface="Arial"/>
              </a:rPr>
              <a:t> = 3) to prevent false spoof flags from single blurry frames.</a:t>
            </a:r>
            <a:endParaRPr lang="en-IN" sz="1200" dirty="0">
              <a:solidFill>
                <a:srgbClr val="1E293B"/>
              </a:solidFill>
              <a:latin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D4143A-4685-19D7-B2D5-C285533C7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342" y="1054814"/>
            <a:ext cx="2814119" cy="380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6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D4CAB-BB7D-29DF-9D7F-AD2D02C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4BF578F-A888-70CF-2706-FD9663531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342" y="1054814"/>
            <a:ext cx="2814119" cy="38024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BAC759-565E-1EF6-0787-8E0E413E4DFF}"/>
              </a:ext>
            </a:extLst>
          </p:cNvPr>
          <p:cNvSpPr txBox="1"/>
          <p:nvPr/>
        </p:nvSpPr>
        <p:spPr>
          <a:xfrm>
            <a:off x="691661" y="1703417"/>
            <a:ext cx="500966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>
                <a:solidFill>
                  <a:srgbClr val="1E293B"/>
                </a:solidFill>
                <a:latin typeface="Arial"/>
              </a:rPr>
              <a:t>Edge Biometric Model: </a:t>
            </a:r>
            <a:r>
              <a:rPr lang="en-IN" sz="1200" dirty="0">
                <a:solidFill>
                  <a:srgbClr val="475569"/>
                </a:solidFill>
                <a:latin typeface="Arial"/>
              </a:rPr>
              <a:t>~5.2 MB </a:t>
            </a:r>
            <a:r>
              <a:rPr lang="en-IN" sz="1200" dirty="0" err="1">
                <a:solidFill>
                  <a:srgbClr val="475569"/>
                </a:solidFill>
                <a:latin typeface="Arial"/>
              </a:rPr>
              <a:t>TFLite</a:t>
            </a:r>
            <a:r>
              <a:rPr lang="en-IN" sz="1200" dirty="0">
                <a:solidFill>
                  <a:srgbClr val="475569"/>
                </a:solidFill>
                <a:latin typeface="Arial"/>
              </a:rPr>
              <a:t> neural model extracting 128-D L2-normalized vector.</a:t>
            </a: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200" dirty="0">
              <a:solidFill>
                <a:srgbClr val="475569"/>
              </a:solidFill>
              <a:latin typeface="Arial"/>
            </a:endParaRP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>
                <a:solidFill>
                  <a:srgbClr val="1E293B"/>
                </a:solidFill>
                <a:latin typeface="Arial"/>
              </a:rPr>
              <a:t>Verification Match: </a:t>
            </a:r>
            <a:r>
              <a:rPr lang="en-IN" sz="1200" dirty="0">
                <a:solidFill>
                  <a:srgbClr val="475569"/>
                </a:solidFill>
                <a:latin typeface="Arial"/>
              </a:rPr>
              <a:t>Generates probe embedding; matched vs local </a:t>
            </a:r>
            <a:r>
              <a:rPr lang="en-IN" sz="1200" dirty="0" err="1">
                <a:solidFill>
                  <a:srgbClr val="475569"/>
                </a:solidFill>
                <a:latin typeface="Arial"/>
              </a:rPr>
              <a:t>SecureStore</a:t>
            </a:r>
            <a:r>
              <a:rPr lang="en-IN" sz="1200" dirty="0">
                <a:solidFill>
                  <a:srgbClr val="475569"/>
                </a:solidFill>
                <a:latin typeface="Arial"/>
              </a:rPr>
              <a:t>.</a:t>
            </a: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200" dirty="0">
              <a:solidFill>
                <a:srgbClr val="475569"/>
              </a:solidFill>
              <a:latin typeface="Arial"/>
            </a:endParaRP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sz="1200" b="1" dirty="0" err="1">
                <a:solidFill>
                  <a:srgbClr val="1E293B"/>
                </a:solidFill>
                <a:latin typeface="Arial"/>
              </a:rPr>
              <a:t>Enrollment</a:t>
            </a:r>
            <a:r>
              <a:rPr lang="en-IN" sz="1200" b="1" dirty="0">
                <a:solidFill>
                  <a:srgbClr val="1E293B"/>
                </a:solidFill>
                <a:latin typeface="Arial"/>
              </a:rPr>
              <a:t> Averaging: </a:t>
            </a:r>
            <a:r>
              <a:rPr lang="en-IN" sz="1200" dirty="0">
                <a:solidFill>
                  <a:srgbClr val="475569"/>
                </a:solidFill>
                <a:latin typeface="Arial"/>
              </a:rPr>
              <a:t>Extracts 3 frame embeddings and computes element-wise master average.</a:t>
            </a: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200" dirty="0">
              <a:solidFill>
                <a:srgbClr val="475569"/>
              </a:solidFill>
              <a:latin typeface="Arial"/>
            </a:endParaRPr>
          </a:p>
          <a:p>
            <a:pPr marL="171450" indent="-1714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1200" dirty="0">
              <a:solidFill>
                <a:srgbClr val="475569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E2F53-19E8-2F2B-10C8-0BE261DB5B6C}"/>
              </a:ext>
            </a:extLst>
          </p:cNvPr>
          <p:cNvSpPr txBox="1"/>
          <p:nvPr/>
        </p:nvSpPr>
        <p:spPr>
          <a:xfrm>
            <a:off x="785445" y="1054814"/>
            <a:ext cx="4349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Arial"/>
              </a:defRPr>
            </a:pPr>
            <a:r>
              <a:rPr lang="en-IN" sz="2000" dirty="0" err="1"/>
              <a:t>MobileFaceNet</a:t>
            </a:r>
            <a:r>
              <a:rPr lang="en-IN" sz="2000" dirty="0"/>
              <a:t> Embedding</a:t>
            </a:r>
          </a:p>
        </p:txBody>
      </p:sp>
    </p:spTree>
    <p:extLst>
      <p:ext uri="{BB962C8B-B14F-4D97-AF65-F5344CB8AC3E}">
        <p14:creationId xmlns:p14="http://schemas.microsoft.com/office/powerpoint/2010/main" val="271924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F9755-182F-AC66-FF20-F8FF5186F634}"/>
              </a:ext>
            </a:extLst>
          </p:cNvPr>
          <p:cNvSpPr txBox="1"/>
          <p:nvPr/>
        </p:nvSpPr>
        <p:spPr>
          <a:xfrm>
            <a:off x="664307" y="863590"/>
            <a:ext cx="74324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TFLite</a:t>
            </a:r>
            <a:r>
              <a:rPr lang="en-IN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(TensorFlow Lite)</a:t>
            </a:r>
            <a:r>
              <a:rPr lang="en-IN" sz="12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This is a lightweight tool made by Google. It shrinks massive AI models so they can fit and run on mobile phones without draining the battery.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Hardware Delegates</a:t>
            </a:r>
            <a:r>
              <a:rPr lang="en-IN" sz="12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Think of these as smart translators. Instead of making the phone's main brain (CPU) do all the heavy lifting, a delegate hands the AI task over to specialized chips inside the phone.</a:t>
            </a:r>
          </a:p>
          <a:p>
            <a:endParaRPr lang="en-IN" sz="1200" b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 ML (iOS)</a:t>
            </a:r>
            <a:r>
              <a:rPr lang="en-IN" sz="12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This is Apple's built-in AI framework. The </a:t>
            </a:r>
            <a:r>
              <a:rPr lang="en-IN" sz="1200" b="0" u="none" strike="noStrike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TFLite</a:t>
            </a:r>
            <a:r>
              <a:rPr lang="en-IN" sz="12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delegate passes the AI work to Apple's </a:t>
            </a:r>
            <a:r>
              <a:rPr lang="en-IN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Neural Engine</a:t>
            </a:r>
            <a:r>
              <a:rPr lang="en-IN" sz="12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chip inside iPhones.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IN" sz="1200" b="1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b="1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NNAPI (Android)</a:t>
            </a:r>
            <a:r>
              <a:rPr lang="en-IN" sz="1200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This stands for Neural Networks API. It is Google's system that lets Android apps talk directly to specialized AI chips (like GPUs and NPUs) built by Samsung, Qualcomm, or Google.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MiniFASNet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 V2 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outputs raw neural network logits for 3 classes: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• Class 0: Print Spoof (2D photo on paper)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• Class 1: Live Face (real human face)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  • Class 2: Screen Replay Spoof (phone/laptop screen)</a:t>
            </a:r>
          </a:p>
          <a:p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converts raw model output logits into normalized probabilities [p0, p1, p2] summing to 1.0 (100%).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Code checks probs[1] (Live score): face is confirmed live if p1 is the highest probability or p1 &gt;= 0.35.</a:t>
            </a:r>
          </a:p>
        </p:txBody>
      </p:sp>
    </p:spTree>
    <p:extLst>
      <p:ext uri="{BB962C8B-B14F-4D97-AF65-F5344CB8AC3E}">
        <p14:creationId xmlns:p14="http://schemas.microsoft.com/office/powerpoint/2010/main" val="2331351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2F8190-265C-127C-D0F1-BF1174D79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533AB2-8F90-3A61-0F07-41A438844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77" y="2571750"/>
            <a:ext cx="1800052" cy="77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70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F4695E-A2B4-5954-6FFE-C91A3794C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2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42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353" y="580866"/>
            <a:ext cx="8288216" cy="656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&amp; Score Distribution</a:t>
            </a:r>
            <a:r>
              <a:rPr lang="en-US" sz="2000" dirty="0"/>
              <a:t> </a:t>
            </a:r>
          </a:p>
          <a:p>
            <a:pPr algn="ctr"/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(Indian Faces Dataset)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01077" y="1565953"/>
            <a:ext cx="2848710" cy="289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Precision &amp; Robustness</a:t>
            </a:r>
            <a:endParaRPr lang="en-US" sz="1200" dirty="0"/>
          </a:p>
        </p:txBody>
      </p:sp>
      <p:pic>
        <p:nvPicPr>
          <p:cNvPr id="4" name="Image 0" descr="C:/Users/Krishna Bhagavan/projects/datalake-face-auth/proposal/benchmark_plots/Indian_RO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8463" y="1843650"/>
            <a:ext cx="3058254" cy="2779152"/>
          </a:xfrm>
          <a:prstGeom prst="rect">
            <a:avLst/>
          </a:prstGeom>
        </p:spPr>
      </p:pic>
      <p:pic>
        <p:nvPicPr>
          <p:cNvPr id="8" name="Image 0" descr="C:/Users/Krishna Bhagavan/projects/datalake-face-auth/proposal/benchmark_plots/Indian_ScoreDistribution.png">
            <a:extLst>
              <a:ext uri="{FF2B5EF4-FFF2-40B4-BE49-F238E27FC236}">
                <a16:creationId xmlns:a16="http://schemas.microsoft.com/office/drawing/2014/main" id="{FC3C0E8D-AFD6-F3E3-7C33-41E0DEA02B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25814" y="1843650"/>
            <a:ext cx="4329723" cy="27791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A91E42-393E-CE86-FE25-848E30B60CEA}"/>
              </a:ext>
            </a:extLst>
          </p:cNvPr>
          <p:cNvSpPr txBox="1"/>
          <p:nvPr/>
        </p:nvSpPr>
        <p:spPr>
          <a:xfrm>
            <a:off x="4997884" y="1565953"/>
            <a:ext cx="34817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 between match and non-match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3F8CE-3A9E-7C32-FFD2-84D83E0A8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527079-DA0A-46E3-A460-51A67DD6C21F}"/>
              </a:ext>
            </a:extLst>
          </p:cNvPr>
          <p:cNvSpPr/>
          <p:nvPr/>
        </p:nvSpPr>
        <p:spPr>
          <a:xfrm>
            <a:off x="427892" y="582945"/>
            <a:ext cx="8288216" cy="656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&amp; Score Distribution </a:t>
            </a:r>
          </a:p>
          <a:p>
            <a:pPr algn="ctr"/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(LFW Dataset)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7ACC92-852C-9160-A1D3-65FB22C1502D}"/>
              </a:ext>
            </a:extLst>
          </p:cNvPr>
          <p:cNvSpPr/>
          <p:nvPr/>
        </p:nvSpPr>
        <p:spPr>
          <a:xfrm>
            <a:off x="801077" y="1565953"/>
            <a:ext cx="2848710" cy="289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Precision &amp; Robustness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A6394B-F1EF-9E4B-0714-31D9B8275979}"/>
              </a:ext>
            </a:extLst>
          </p:cNvPr>
          <p:cNvSpPr txBox="1"/>
          <p:nvPr/>
        </p:nvSpPr>
        <p:spPr>
          <a:xfrm>
            <a:off x="4997884" y="1565953"/>
            <a:ext cx="34817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 between match and non-match</a:t>
            </a:r>
            <a:endParaRPr lang="en-US" sz="1200" dirty="0"/>
          </a:p>
        </p:txBody>
      </p:sp>
      <p:pic>
        <p:nvPicPr>
          <p:cNvPr id="6" name="Image 0" descr="C:/Users/Krishna Bhagavan/projects/datalake-face-auth/proposal/benchmark_plots/LFW_ROC.png">
            <a:extLst>
              <a:ext uri="{FF2B5EF4-FFF2-40B4-BE49-F238E27FC236}">
                <a16:creationId xmlns:a16="http://schemas.microsoft.com/office/drawing/2014/main" id="{2B54A5BD-570F-A8F6-D5E1-FD7A7FEB2E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1077" y="1925710"/>
            <a:ext cx="2848710" cy="2678729"/>
          </a:xfrm>
          <a:prstGeom prst="rect">
            <a:avLst/>
          </a:prstGeom>
        </p:spPr>
      </p:pic>
      <p:pic>
        <p:nvPicPr>
          <p:cNvPr id="9" name="Image 0" descr="C:/Users/Krishna Bhagavan/projects/datalake-face-auth/proposal/benchmark_plots/LFW_ScoreDistribution.png">
            <a:extLst>
              <a:ext uri="{FF2B5EF4-FFF2-40B4-BE49-F238E27FC236}">
                <a16:creationId xmlns:a16="http://schemas.microsoft.com/office/drawing/2014/main" id="{544E43C7-8BA2-EC8B-8B8E-89574E7254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01308" y="1855122"/>
            <a:ext cx="3923214" cy="274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768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prototype (Android + iOS)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628</Words>
  <Application>Microsoft Office PowerPoint</Application>
  <PresentationFormat>On-screen Show (16:9)</PresentationFormat>
  <Paragraphs>67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Krishna Bhagavan</cp:lastModifiedBy>
  <cp:revision>5</cp:revision>
  <dcterms:created xsi:type="dcterms:W3CDTF">2026-07-26T13:59:30Z</dcterms:created>
  <dcterms:modified xsi:type="dcterms:W3CDTF">2026-07-28T06:34:46Z</dcterms:modified>
</cp:coreProperties>
</file>